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26-Aug-25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26-Aug-25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26-Aug-25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26-Aug-25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Top 10 Cases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1 - HIGH Risk</a:t>
            </a:r>
          </a:p>
        </p:txBody>
      </p:sp>
      <p:sp>
        <p:nvSpPr>
          <p:cNvPr id="3" name="Content Placeholder 2"/>
          <p:cNvSpPr>
            <a:spLocks noGrp="1"/>
          </p:cNvSpPr>
          <p:nvPr>
            <p:ph idx="1"/>
          </p:nvPr>
        </p:nvSpPr>
        <p:spPr/>
        <p:txBody>
          <a:bodyPr>
            <a:normAutofit/>
          </a:bodyPr>
          <a:lstStyle/>
          <a:p>
            <a:r>
              <a:rPr sz="2000" dirty="0"/>
              <a:t>Reason: This transaction involves 1MDB, an entity globally recognized for a massive financial scandal, and Red Granite Pictures, which was implicated in receiving diverted 1MDB funds. This pairing is a known indicator of illicit financial activity.</a:t>
            </a:r>
          </a:p>
          <a:p>
            <a:endParaRPr sz="2000" dirty="0"/>
          </a:p>
          <a:p>
            <a:r>
              <a:rPr sz="2000" dirty="0"/>
              <a:t>Rationale: The transaction directly mirrors the factual circumstances of the 1MDB global money laundering scheme, where significant funds were illicitly transferred from the Malaysian sovereign wealth fund to a film production company. This represents a very high risk of corruption and money laundering due to the notorious history of the involved parties.</a:t>
            </a:r>
          </a:p>
          <a:p>
            <a:endParaRPr sz="2000" dirty="0"/>
          </a:p>
          <a:p>
            <a:r>
              <a:rPr sz="2000" dirty="0"/>
              <a:t>Originator: 1Malaysia Development </a:t>
            </a:r>
            <a:r>
              <a:rPr sz="2000" dirty="0" err="1"/>
              <a:t>Berhad</a:t>
            </a:r>
            <a:r>
              <a:rPr sz="2000" dirty="0"/>
              <a:t> (MDB) (Malaysia)</a:t>
            </a:r>
          </a:p>
          <a:p>
            <a:r>
              <a:rPr sz="2000" dirty="0"/>
              <a:t>Beneficiary: Red Granite Pictures (United States of America)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2 - MEDIUM Risk</a:t>
            </a:r>
          </a:p>
        </p:txBody>
      </p:sp>
      <p:sp>
        <p:nvSpPr>
          <p:cNvPr id="3" name="Content Placeholder 2"/>
          <p:cNvSpPr>
            <a:spLocks noGrp="1"/>
          </p:cNvSpPr>
          <p:nvPr>
            <p:ph idx="1"/>
          </p:nvPr>
        </p:nvSpPr>
        <p:spPr/>
        <p:txBody>
          <a:bodyPr>
            <a:noAutofit/>
          </a:bodyPr>
          <a:lstStyle/>
          <a:p>
            <a:r>
              <a:rPr sz="2000" dirty="0"/>
              <a:t>Reason: Cross-continental transaction between a metals company and a plastics company, requiring understanding of the commercial rationale given the industry difference.</a:t>
            </a:r>
          </a:p>
          <a:p>
            <a:endParaRPr sz="2000" dirty="0"/>
          </a:p>
          <a:p>
            <a:r>
              <a:rPr sz="2000" dirty="0"/>
              <a:t>Rationale: The transaction involves companies from different continents (Chile and Morocco) and distinct, though potentially related, industrial classifications (Metals Service Centers and Plastics Materials). While not immediately suspicious, the combination of distant cross-border payment and a non-obvious industry pairing elevates the risk to medium, necessitating further due diligence.</a:t>
            </a:r>
          </a:p>
          <a:p>
            <a:endParaRPr sz="2000" dirty="0"/>
          </a:p>
          <a:p>
            <a:r>
              <a:rPr sz="2000" dirty="0"/>
              <a:t>Originator: James Systems Inc (Chile)</a:t>
            </a:r>
          </a:p>
          <a:p>
            <a:r>
              <a:rPr sz="2000" dirty="0"/>
              <a:t>Beneficiary: Garcia-Parker Group (Morocco)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3 - HIGH Risk</a:t>
            </a:r>
          </a:p>
        </p:txBody>
      </p:sp>
      <p:sp>
        <p:nvSpPr>
          <p:cNvPr id="3" name="Content Placeholder 2"/>
          <p:cNvSpPr>
            <a:spLocks noGrp="1"/>
          </p:cNvSpPr>
          <p:nvPr>
            <p:ph idx="1"/>
          </p:nvPr>
        </p:nvSpPr>
        <p:spPr/>
        <p:txBody>
          <a:bodyPr>
            <a:noAutofit/>
          </a:bodyPr>
          <a:lstStyle/>
          <a:p>
            <a:r>
              <a:rPr sz="2000" dirty="0"/>
              <a:t>Reason: Originator is from a high-risk and sanctioned jurisdiction (Belarus). The cross-border transaction involves a significant amount to a financial institution (credit union) as the beneficiary, raising concerns about the true purpose of funds.</a:t>
            </a:r>
          </a:p>
          <a:p>
            <a:endParaRPr sz="2000" dirty="0"/>
          </a:p>
          <a:p>
            <a:r>
              <a:rPr sz="2000" dirty="0"/>
              <a:t>Rationale: Transactions originating from Belarus are inherently high-risk due to international sanctions and its designation as a high-risk jurisdiction for financial crime. The payment of over $21,000 USD from a record company to a credit union in Grenada, without a clear specified commercial purpose, adds to the complexity and potential for illicit financial activity, requiring enhanced due diligence.</a:t>
            </a:r>
          </a:p>
          <a:p>
            <a:endParaRPr sz="2000" dirty="0"/>
          </a:p>
          <a:p>
            <a:r>
              <a:rPr sz="2000" dirty="0"/>
              <a:t>Originator: Wood-Ward Ltd (Belarus)</a:t>
            </a:r>
          </a:p>
          <a:p>
            <a:r>
              <a:rPr sz="2000" dirty="0"/>
              <a:t>Beneficiary: Foster-Davis Company (Grenada)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4 - HIGH Risk</a:t>
            </a:r>
          </a:p>
        </p:txBody>
      </p:sp>
      <p:sp>
        <p:nvSpPr>
          <p:cNvPr id="3" name="Content Placeholder 2"/>
          <p:cNvSpPr>
            <a:spLocks noGrp="1"/>
          </p:cNvSpPr>
          <p:nvPr>
            <p:ph idx="1"/>
          </p:nvPr>
        </p:nvSpPr>
        <p:spPr/>
        <p:txBody>
          <a:bodyPr>
            <a:normAutofit/>
          </a:bodyPr>
          <a:lstStyle/>
          <a:p>
            <a:r>
              <a:rPr sz="2000" dirty="0"/>
              <a:t>Reason: The transaction originates from Papua New Guinea, a jurisdiction with elevated financial crime risk, combined with a significant cross-border amount.</a:t>
            </a:r>
          </a:p>
          <a:p>
            <a:endParaRPr sz="2000" dirty="0"/>
          </a:p>
          <a:p>
            <a:r>
              <a:rPr sz="2000" dirty="0"/>
              <a:t>Rationale: Papua New Guinea is considered a higher-risk jurisdiction for financial crime due to historical AML/CFT weaknesses. This, coupled with the substantial cross-border transaction value, elevates the overall risk requiring enhanced scrutiny.</a:t>
            </a:r>
          </a:p>
          <a:p>
            <a:endParaRPr sz="2000" dirty="0"/>
          </a:p>
          <a:p>
            <a:r>
              <a:rPr sz="2000" dirty="0"/>
              <a:t>Originator: Hill Technologies Corporation (Papua New Guinea)</a:t>
            </a:r>
          </a:p>
          <a:p>
            <a:r>
              <a:rPr sz="2000" dirty="0"/>
              <a:t>Beneficiary: Thompson, Green and Foster Company (Puerto Rico)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5 - MEDIUM Risk</a:t>
            </a:r>
          </a:p>
        </p:txBody>
      </p:sp>
      <p:sp>
        <p:nvSpPr>
          <p:cNvPr id="3" name="Content Placeholder 2"/>
          <p:cNvSpPr>
            <a:spLocks noGrp="1"/>
          </p:cNvSpPr>
          <p:nvPr>
            <p:ph idx="1"/>
          </p:nvPr>
        </p:nvSpPr>
        <p:spPr/>
        <p:txBody>
          <a:bodyPr>
            <a:normAutofit/>
          </a:bodyPr>
          <a:lstStyle/>
          <a:p>
            <a:r>
              <a:rPr sz="2400" dirty="0"/>
              <a:t>Reason: Cross-border transaction originating from Aruba, a jurisdiction with elevated money laundering risk.</a:t>
            </a:r>
          </a:p>
          <a:p>
            <a:endParaRPr sz="2400" dirty="0"/>
          </a:p>
          <a:p>
            <a:r>
              <a:rPr sz="2400" dirty="0"/>
              <a:t>Rationale: The transaction involves a moderate amount flowing from a higher-risk offshore jurisdiction (Aruba) to Estonia. While the business types are plausibly linked, the origin country warrants enhanced scrutiny.</a:t>
            </a:r>
          </a:p>
          <a:p>
            <a:endParaRPr sz="2400" dirty="0"/>
          </a:p>
          <a:p>
            <a:r>
              <a:rPr sz="2400" dirty="0"/>
              <a:t>Originator: Jones-Walker PLC (Aruba)</a:t>
            </a:r>
          </a:p>
          <a:p>
            <a:r>
              <a:rPr sz="2400" dirty="0"/>
              <a:t>Beneficiary: Parker-Davis Company (Estonia)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6 - HIGH Risk</a:t>
            </a:r>
          </a:p>
        </p:txBody>
      </p:sp>
      <p:sp>
        <p:nvSpPr>
          <p:cNvPr id="3" name="Content Placeholder 2"/>
          <p:cNvSpPr>
            <a:spLocks noGrp="1"/>
          </p:cNvSpPr>
          <p:nvPr>
            <p:ph idx="1"/>
          </p:nvPr>
        </p:nvSpPr>
        <p:spPr>
          <a:xfrm>
            <a:off x="457200" y="1600200"/>
            <a:ext cx="8229600" cy="4525963"/>
          </a:xfrm>
        </p:spPr>
        <p:txBody>
          <a:bodyPr>
            <a:normAutofit/>
          </a:bodyPr>
          <a:lstStyle/>
          <a:p>
            <a:r>
              <a:rPr sz="2000" dirty="0"/>
              <a:t>Reason: Transaction involves two high-risk jurisdictions (Western Sahara and Tuvalu) for a significant cross-border payment.</a:t>
            </a:r>
          </a:p>
          <a:p>
            <a:endParaRPr sz="2000" dirty="0"/>
          </a:p>
          <a:p>
            <a:r>
              <a:rPr sz="2000" dirty="0"/>
              <a:t>Rationale: Western Sahara is considered a very high-risk jurisdiction due to its political status and governance challenges, while Tuvalu is a small island nation often associated with offshore finance risks. The combination of these two geographies for a high-value cross-border transaction between entities, regardless of industry, significantly elevates the risk.</a:t>
            </a:r>
          </a:p>
          <a:p>
            <a:endParaRPr sz="2000" dirty="0"/>
          </a:p>
          <a:p>
            <a:r>
              <a:rPr sz="2000" dirty="0"/>
              <a:t>Originator: Jimenez, Green and Myers Inc (Western Sahara)</a:t>
            </a:r>
          </a:p>
          <a:p>
            <a:r>
              <a:rPr sz="2000" dirty="0"/>
              <a:t>Beneficiary: Taylor, Smith and Richardson Ltd (Tuvalu)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7 - LOW Risk</a:t>
            </a:r>
          </a:p>
        </p:txBody>
      </p:sp>
      <p:sp>
        <p:nvSpPr>
          <p:cNvPr id="3" name="Content Placeholder 2"/>
          <p:cNvSpPr>
            <a:spLocks noGrp="1"/>
          </p:cNvSpPr>
          <p:nvPr>
            <p:ph idx="1"/>
          </p:nvPr>
        </p:nvSpPr>
        <p:spPr/>
        <p:txBody>
          <a:bodyPr>
            <a:noAutofit/>
          </a:bodyPr>
          <a:lstStyle/>
          <a:p>
            <a:r>
              <a:rPr sz="2400" dirty="0"/>
              <a:t>Reason: This appears to be a standard cross-border business transaction between two companies in related industries.</a:t>
            </a:r>
          </a:p>
          <a:p>
            <a:endParaRPr sz="2400" dirty="0"/>
          </a:p>
          <a:p>
            <a:r>
              <a:rPr sz="2400" dirty="0"/>
              <a:t>Rationale: No specific red flags were identified concerning high-risk jurisdictions, industry mismatches, or unusual transaction amounts for commercial equipment sales. The countries involved are not typically considered high-risk for financial crime.</a:t>
            </a:r>
          </a:p>
          <a:p>
            <a:endParaRPr sz="2400" dirty="0"/>
          </a:p>
          <a:p>
            <a:r>
              <a:rPr sz="2400" dirty="0"/>
              <a:t>Originator: Walker Solutions Inc (Georgia)</a:t>
            </a:r>
          </a:p>
          <a:p>
            <a:r>
              <a:rPr sz="2400" dirty="0"/>
              <a:t>Beneficiary: Gonzalez Corporation (Falkland Islands (Malvinas))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8 - HIGH Risk</a:t>
            </a:r>
          </a:p>
        </p:txBody>
      </p:sp>
      <p:sp>
        <p:nvSpPr>
          <p:cNvPr id="3" name="Content Placeholder 2"/>
          <p:cNvSpPr>
            <a:spLocks noGrp="1"/>
          </p:cNvSpPr>
          <p:nvPr>
            <p:ph idx="1"/>
          </p:nvPr>
        </p:nvSpPr>
        <p:spPr>
          <a:xfrm>
            <a:off x="457200" y="1417638"/>
            <a:ext cx="8229600" cy="4525963"/>
          </a:xfrm>
        </p:spPr>
        <p:txBody>
          <a:bodyPr>
            <a:noAutofit/>
          </a:bodyPr>
          <a:lstStyle/>
          <a:p>
            <a:r>
              <a:rPr sz="2400" dirty="0"/>
              <a:t>Reason: Cross-border transaction to Yemen, a high-risk jurisdiction with significant sanctions and terrorism financing concerns.</a:t>
            </a:r>
          </a:p>
          <a:p>
            <a:endParaRPr sz="2400" dirty="0"/>
          </a:p>
          <a:p>
            <a:r>
              <a:rPr sz="2400" dirty="0"/>
              <a:t>Rationale: The primary risk factor is the beneficiary's location in Yemen, which is categorized as a high-risk jurisdiction. This necessitates enhanced due diligence regardless of the industry types involved, as such transactions are often scrutinized for potential sanctions evasion or terrorism financing.</a:t>
            </a:r>
          </a:p>
          <a:p>
            <a:endParaRPr sz="2400" dirty="0"/>
          </a:p>
          <a:p>
            <a:r>
              <a:rPr sz="2400" dirty="0"/>
              <a:t>Originator: Bennett, Reyes and Patel Group (Ireland)</a:t>
            </a:r>
          </a:p>
          <a:p>
            <a:r>
              <a:rPr sz="2400" dirty="0"/>
              <a:t>Beneficiary: Bennett Technologies Company (Yemen)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9 - HIGH Risk</a:t>
            </a:r>
          </a:p>
        </p:txBody>
      </p:sp>
      <p:sp>
        <p:nvSpPr>
          <p:cNvPr id="3" name="Content Placeholder 2"/>
          <p:cNvSpPr>
            <a:spLocks noGrp="1"/>
          </p:cNvSpPr>
          <p:nvPr>
            <p:ph idx="1"/>
          </p:nvPr>
        </p:nvSpPr>
        <p:spPr>
          <a:xfrm>
            <a:off x="457200" y="1417638"/>
            <a:ext cx="8229600" cy="4525963"/>
          </a:xfrm>
        </p:spPr>
        <p:txBody>
          <a:bodyPr>
            <a:noAutofit/>
          </a:bodyPr>
          <a:lstStyle/>
          <a:p>
            <a:r>
              <a:rPr sz="2400" dirty="0"/>
              <a:t>Reason: Transaction originates from a high-risk country (Congo) and involves an unusual industry pairing (Pesticides to Wine/Alcohol).</a:t>
            </a:r>
          </a:p>
          <a:p>
            <a:endParaRPr sz="2400" dirty="0"/>
          </a:p>
          <a:p>
            <a:r>
              <a:rPr sz="2400" dirty="0"/>
              <a:t>Rationale: The combination of a high-risk originating jurisdiction, significant cross-border amount, and a potential commercial mismatch between the originator's agricultural chemical business and the beneficiary's alcoholic beverage business raises multiple red flags, warranting enhanced due diligence.</a:t>
            </a:r>
          </a:p>
          <a:p>
            <a:endParaRPr sz="2400" dirty="0"/>
          </a:p>
          <a:p>
            <a:r>
              <a:rPr sz="2400" dirty="0"/>
              <a:t>Originator: Cook-Reyes Inc (Congo)</a:t>
            </a:r>
          </a:p>
          <a:p>
            <a:r>
              <a:rPr sz="2400" dirty="0"/>
              <a:t>Beneficiary: Ross, Adams and Bennett Ltd (Oman)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10 - HIGH Risk</a:t>
            </a:r>
          </a:p>
        </p:txBody>
      </p:sp>
      <p:sp>
        <p:nvSpPr>
          <p:cNvPr id="3" name="Content Placeholder 2"/>
          <p:cNvSpPr>
            <a:spLocks noGrp="1"/>
          </p:cNvSpPr>
          <p:nvPr>
            <p:ph idx="1"/>
          </p:nvPr>
        </p:nvSpPr>
        <p:spPr/>
        <p:txBody>
          <a:bodyPr>
            <a:noAutofit/>
          </a:bodyPr>
          <a:lstStyle/>
          <a:p>
            <a:r>
              <a:rPr sz="2000" dirty="0"/>
              <a:t>Reason: Significant mismatch between the goods transacted (Chicken Eggs vs. Mattresses) and the stated business activities, combined with the beneficiary country being a higher-risk jurisdiction (Moldova).</a:t>
            </a:r>
          </a:p>
          <a:p>
            <a:endParaRPr sz="2000" dirty="0"/>
          </a:p>
          <a:p>
            <a:r>
              <a:rPr sz="2000" dirty="0"/>
              <a:t>Rationale: The transaction presents multiple red flags: the originator company name (Brooks Technologies) contradicts its stated product (Chicken Eggs), and there's a severe mismatch between the originator's product (Chicken Eggs) and the beneficiary's product (Mattresses). This strong product mismatch is highly indicative of a fictitious trade. Additionally, the beneficiary country, Moldova, is considered a higher-risk jurisdiction for financial crime, further elevating the overall risk of this cross-border, high-value transaction.</a:t>
            </a:r>
          </a:p>
          <a:p>
            <a:endParaRPr sz="2000" dirty="0"/>
          </a:p>
          <a:p>
            <a:r>
              <a:rPr sz="2000" dirty="0"/>
              <a:t>Originator: Brooks Technologies and Sons (United Arab Emirates)</a:t>
            </a:r>
          </a:p>
          <a:p>
            <a:r>
              <a:rPr sz="2000" dirty="0"/>
              <a:t>Beneficiary: Lopez Holdings PLC (Moldova)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1016</Words>
  <Application>Microsoft Office PowerPoint</Application>
  <PresentationFormat>On-screen Show (4:3)</PresentationFormat>
  <Paragraphs>71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Top 10 Cases</vt:lpstr>
      <vt:lpstr>Case 1 - HIGH Risk</vt:lpstr>
      <vt:lpstr>Case 2 - MEDIUM Risk</vt:lpstr>
      <vt:lpstr>Case 3 - HIGH Risk</vt:lpstr>
      <vt:lpstr>Case 4 - HIGH Risk</vt:lpstr>
      <vt:lpstr>Case 5 - MEDIUM Risk</vt:lpstr>
      <vt:lpstr>Case 6 - HIGH Risk</vt:lpstr>
      <vt:lpstr>Case 7 - LOW Risk</vt:lpstr>
      <vt:lpstr>Case 8 - HIGH Risk</vt:lpstr>
      <vt:lpstr>Case 9 - HIGH Risk</vt:lpstr>
      <vt:lpstr>Case 10 - HIGH Risk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Sunil</cp:lastModifiedBy>
  <cp:revision>2</cp:revision>
  <dcterms:created xsi:type="dcterms:W3CDTF">2013-01-27T09:14:16Z</dcterms:created>
  <dcterms:modified xsi:type="dcterms:W3CDTF">2025-08-26T16:05:17Z</dcterms:modified>
  <cp:category/>
</cp:coreProperties>
</file>